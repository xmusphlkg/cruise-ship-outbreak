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B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708" y="888"/>
      </p:cViewPr>
      <p:guideLst>
        <p:guide orient="horz" pos="219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ner Lee" userId="cf76493bb23050a9" providerId="LiveId" clId="{521B8947-B049-4A18-89DE-9BE87A539892}"/>
    <pc:docChg chg="modSld">
      <pc:chgData name="Conner Lee" userId="cf76493bb23050a9" providerId="LiveId" clId="{521B8947-B049-4A18-89DE-9BE87A539892}" dt="2026-05-15T10:25:22.151" v="0" actId="2711"/>
      <pc:docMkLst>
        <pc:docMk/>
      </pc:docMkLst>
      <pc:sldChg chg="modSp mod">
        <pc:chgData name="Conner Lee" userId="cf76493bb23050a9" providerId="LiveId" clId="{521B8947-B049-4A18-89DE-9BE87A539892}" dt="2026-05-15T10:25:22.151" v="0" actId="2711"/>
        <pc:sldMkLst>
          <pc:docMk/>
          <pc:sldMk cId="0" sldId="256"/>
        </pc:sldMkLst>
        <pc:spChg chg="mod">
          <ac:chgData name="Conner Lee" userId="cf76493bb23050a9" providerId="LiveId" clId="{521B8947-B049-4A18-89DE-9BE87A539892}" dt="2026-05-15T10:25:22.151" v="0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Conner Lee" userId="cf76493bb23050a9" providerId="LiveId" clId="{521B8947-B049-4A18-89DE-9BE87A539892}" dt="2026-05-15T10:25:22.151" v="0" actId="2711"/>
          <ac:spMkLst>
            <pc:docMk/>
            <pc:sldMk cId="0" sldId="256"/>
            <ac:spMk id="9" creationId="{00000000-0000-0000-0000-000000000000}"/>
          </ac:spMkLst>
        </pc:spChg>
        <pc:spChg chg="mod">
          <ac:chgData name="Conner Lee" userId="cf76493bb23050a9" providerId="LiveId" clId="{521B8947-B049-4A18-89DE-9BE87A539892}" dt="2026-05-15T10:25:22.151" v="0" actId="2711"/>
          <ac:spMkLst>
            <pc:docMk/>
            <pc:sldMk cId="0" sldId="256"/>
            <ac:spMk id="11" creationId="{00000000-0000-0000-0000-000000000000}"/>
          </ac:spMkLst>
        </pc:spChg>
        <pc:spChg chg="mod">
          <ac:chgData name="Conner Lee" userId="cf76493bb23050a9" providerId="LiveId" clId="{521B8947-B049-4A18-89DE-9BE87A539892}" dt="2026-05-15T10:25:22.151" v="0" actId="2711"/>
          <ac:spMkLst>
            <pc:docMk/>
            <pc:sldMk cId="0" sldId="256"/>
            <ac:spMk id="14" creationId="{00000000-0000-0000-0000-000000000000}"/>
          </ac:spMkLst>
        </pc:spChg>
        <pc:spChg chg="mod">
          <ac:chgData name="Conner Lee" userId="cf76493bb23050a9" providerId="LiveId" clId="{521B8947-B049-4A18-89DE-9BE87A539892}" dt="2026-05-15T10:25:22.151" v="0" actId="2711"/>
          <ac:spMkLst>
            <pc:docMk/>
            <pc:sldMk cId="0" sldId="256"/>
            <ac:spMk id="15" creationId="{00000000-0000-0000-0000-000000000000}"/>
          </ac:spMkLst>
        </pc:spChg>
        <pc:spChg chg="mod">
          <ac:chgData name="Conner Lee" userId="cf76493bb23050a9" providerId="LiveId" clId="{521B8947-B049-4A18-89DE-9BE87A539892}" dt="2026-05-15T10:25:22.151" v="0" actId="2711"/>
          <ac:spMkLst>
            <pc:docMk/>
            <pc:sldMk cId="0" sldId="256"/>
            <ac:spMk id="17" creationId="{00000000-0000-0000-0000-000000000000}"/>
          </ac:spMkLst>
        </pc:spChg>
        <pc:spChg chg="mod">
          <ac:chgData name="Conner Lee" userId="cf76493bb23050a9" providerId="LiveId" clId="{521B8947-B049-4A18-89DE-9BE87A539892}" dt="2026-05-15T10:25:22.151" v="0" actId="2711"/>
          <ac:spMkLst>
            <pc:docMk/>
            <pc:sldMk cId="0" sldId="256"/>
            <ac:spMk id="18" creationId="{00000000-0000-0000-0000-000000000000}"/>
          </ac:spMkLst>
        </pc:spChg>
        <pc:spChg chg="mod">
          <ac:chgData name="Conner Lee" userId="cf76493bb23050a9" providerId="LiveId" clId="{521B8947-B049-4A18-89DE-9BE87A539892}" dt="2026-05-15T10:25:22.151" v="0" actId="2711"/>
          <ac:spMkLst>
            <pc:docMk/>
            <pc:sldMk cId="0" sldId="256"/>
            <ac:spMk id="19" creationId="{00000000-0000-0000-0000-000000000000}"/>
          </ac:spMkLst>
        </pc:spChg>
        <pc:spChg chg="mod">
          <ac:chgData name="Conner Lee" userId="cf76493bb23050a9" providerId="LiveId" clId="{521B8947-B049-4A18-89DE-9BE87A539892}" dt="2026-05-15T10:25:22.151" v="0" actId="2711"/>
          <ac:spMkLst>
            <pc:docMk/>
            <pc:sldMk cId="0" sldId="256"/>
            <ac:spMk id="20" creationId="{00000000-0000-0000-0000-000000000000}"/>
          </ac:spMkLst>
        </pc:spChg>
        <pc:spChg chg="mod">
          <ac:chgData name="Conner Lee" userId="cf76493bb23050a9" providerId="LiveId" clId="{521B8947-B049-4A18-89DE-9BE87A539892}" dt="2026-05-15T10:25:22.151" v="0" actId="2711"/>
          <ac:spMkLst>
            <pc:docMk/>
            <pc:sldMk cId="0" sldId="256"/>
            <ac:spMk id="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996430" y="104775"/>
            <a:ext cx="3695700" cy="698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cs typeface="Times New Roman" panose="02020603050405020304" charset="0"/>
              </a:rPr>
              <a:t>PubMed, WHO DON,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 ECDC reports, grey literature 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(n = 357 records from PubMed) </a:t>
            </a:r>
          </a:p>
        </p:txBody>
      </p:sp>
      <p:cxnSp>
        <p:nvCxnSpPr>
          <p:cNvPr id="8" name="直接箭头连接符 7"/>
          <p:cNvCxnSpPr>
            <a:stCxn id="6" idx="2"/>
            <a:endCxn id="9" idx="0"/>
          </p:cNvCxnSpPr>
          <p:nvPr/>
        </p:nvCxnSpPr>
        <p:spPr>
          <a:xfrm>
            <a:off x="8844280" y="803275"/>
            <a:ext cx="1270" cy="3111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998335" y="1114425"/>
            <a:ext cx="3693795" cy="4578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cs typeface="Times New Roman" panose="02020603050405020304" charset="0"/>
              </a:rPr>
              <a:t>Title/abstract screening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 (n = 357)  </a:t>
            </a:r>
          </a:p>
        </p:txBody>
      </p:sp>
      <p:sp>
        <p:nvSpPr>
          <p:cNvPr id="11" name="矩形 10"/>
          <p:cNvSpPr/>
          <p:nvPr/>
        </p:nvSpPr>
        <p:spPr>
          <a:xfrm>
            <a:off x="6996430" y="1887855"/>
            <a:ext cx="3694430" cy="993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cs typeface="Times New Roman" panose="02020603050405020304" charset="0"/>
              </a:rPr>
              <a:t>Excluded at title/abstract (n = 166) 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 E1 Review/meta-analysis (16)  E2 Modelling (23) 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 E3 Methodology (11)  E4 Editorial (16) 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 E5 Non-cruise vessel (3)  E6 No outbreak (35) 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 E7 Single case (8)  E8 Non-infectious (15) 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 E9 Not relevant (39) </a:t>
            </a:r>
          </a:p>
        </p:txBody>
      </p:sp>
      <p:cxnSp>
        <p:nvCxnSpPr>
          <p:cNvPr id="13" name="直接箭头连接符 12"/>
          <p:cNvCxnSpPr>
            <a:stCxn id="9" idx="2"/>
            <a:endCxn id="11" idx="0"/>
          </p:cNvCxnSpPr>
          <p:nvPr/>
        </p:nvCxnSpPr>
        <p:spPr>
          <a:xfrm flipH="1">
            <a:off x="8843645" y="1572260"/>
            <a:ext cx="1905" cy="3155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996430" y="3095625"/>
            <a:ext cx="3695065" cy="4362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cs typeface="Times New Roman" panose="02020603050405020304" charset="0"/>
              </a:rPr>
              <a:t>Full-text articles assessed for eligibility 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(n = 191) </a:t>
            </a:r>
          </a:p>
        </p:txBody>
      </p:sp>
      <p:sp>
        <p:nvSpPr>
          <p:cNvPr id="15" name="矩形 14"/>
          <p:cNvSpPr/>
          <p:nvPr/>
        </p:nvSpPr>
        <p:spPr>
          <a:xfrm>
            <a:off x="6995160" y="3861435"/>
            <a:ext cx="3695065" cy="355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cs typeface="Times New Roman" panose="02020603050405020304" charset="0"/>
              </a:rPr>
              <a:t>Deduplicated against CDC VSP and other sources 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(n = 148)  </a:t>
            </a:r>
          </a:p>
        </p:txBody>
      </p:sp>
      <p:sp>
        <p:nvSpPr>
          <p:cNvPr id="17" name="矩形 16"/>
          <p:cNvSpPr/>
          <p:nvPr/>
        </p:nvSpPr>
        <p:spPr>
          <a:xfrm>
            <a:off x="6996430" y="4546600"/>
            <a:ext cx="3695700" cy="5156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cs typeface="Times New Roman" panose="02020603050405020304" charset="0"/>
              </a:rPr>
              <a:t>Unique events identified from peer-reviewed 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academic publications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(n = 43) </a:t>
            </a:r>
          </a:p>
        </p:txBody>
      </p:sp>
      <p:sp>
        <p:nvSpPr>
          <p:cNvPr id="18" name="矩形 17"/>
          <p:cNvSpPr/>
          <p:nvPr/>
        </p:nvSpPr>
        <p:spPr>
          <a:xfrm>
            <a:off x="3131185" y="104775"/>
            <a:ext cx="3263265" cy="708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cs typeface="Times New Roman" panose="02020603050405020304" charset="0"/>
              </a:rPr>
              <a:t> CDC VSP archive entries + 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additional official public-health reports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 (n = 436 events) </a:t>
            </a:r>
          </a:p>
        </p:txBody>
      </p:sp>
      <p:sp>
        <p:nvSpPr>
          <p:cNvPr id="19" name="矩形 18"/>
          <p:cNvSpPr/>
          <p:nvPr/>
        </p:nvSpPr>
        <p:spPr>
          <a:xfrm>
            <a:off x="3131820" y="4546600"/>
            <a:ext cx="3262630" cy="5156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cs typeface="Times New Roman" panose="02020603050405020304" charset="0"/>
              </a:rPr>
              <a:t>CDC VSP archive entries +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 additional official reports after quality review 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(n = 436) </a:t>
            </a:r>
          </a:p>
        </p:txBody>
      </p:sp>
      <p:sp>
        <p:nvSpPr>
          <p:cNvPr id="20" name="矩形 19"/>
          <p:cNvSpPr/>
          <p:nvPr/>
        </p:nvSpPr>
        <p:spPr>
          <a:xfrm>
            <a:off x="3128645" y="5379720"/>
            <a:ext cx="7560310" cy="749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 </a:t>
            </a:r>
            <a:r>
              <a:rPr lang="en-US" altLang="zh-CN" b="1" dirty="0">
                <a:cs typeface="Times New Roman" panose="02020603050405020304" charset="0"/>
              </a:rPr>
              <a:t>Final reported-event dataset</a:t>
            </a:r>
          </a:p>
          <a:p>
            <a:pPr algn="ctr"/>
            <a:r>
              <a:rPr lang="en-US" altLang="zh-CN" b="1" dirty="0">
                <a:cs typeface="Times New Roman" panose="02020603050405020304" charset="0"/>
              </a:rPr>
              <a:t>(N = 479 outbreak events) </a:t>
            </a:r>
          </a:p>
        </p:txBody>
      </p:sp>
      <p:sp>
        <p:nvSpPr>
          <p:cNvPr id="21" name="矩形 20"/>
          <p:cNvSpPr/>
          <p:nvPr/>
        </p:nvSpPr>
        <p:spPr>
          <a:xfrm>
            <a:off x="3128645" y="6295390"/>
            <a:ext cx="7561580" cy="566420"/>
          </a:xfrm>
          <a:prstGeom prst="rect">
            <a:avLst/>
          </a:prstGeom>
          <a:solidFill>
            <a:srgbClr val="F7FBF4"/>
          </a:solidFill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 </a:t>
            </a:r>
            <a:r>
              <a:rPr lang="en-US" altLang="zh-CN" sz="1000">
                <a:cs typeface="Times New Roman" panose="02020603050405020304" charset="0"/>
              </a:rPr>
              <a:t>CDC VSP archive entries + additional official reports: 436 (91.0%) </a:t>
            </a:r>
          </a:p>
          <a:p>
            <a:pPr algn="ctr"/>
            <a:r>
              <a:rPr lang="en-US" altLang="zh-CN" sz="1000">
                <a:cs typeface="Times New Roman" panose="02020603050405020304" charset="0"/>
              </a:rPr>
              <a:t> Events identified from peer-reviewed academic publications: 43 (9.0%)</a:t>
            </a:r>
            <a:r>
              <a:rPr lang="en-US" altLang="zh-CN" sz="1000"/>
              <a:t> </a:t>
            </a:r>
          </a:p>
        </p:txBody>
      </p:sp>
      <p:cxnSp>
        <p:nvCxnSpPr>
          <p:cNvPr id="22" name="直接箭头连接符 21"/>
          <p:cNvCxnSpPr>
            <a:stCxn id="11" idx="2"/>
            <a:endCxn id="14" idx="0"/>
          </p:cNvCxnSpPr>
          <p:nvPr/>
        </p:nvCxnSpPr>
        <p:spPr>
          <a:xfrm>
            <a:off x="8843645" y="2881630"/>
            <a:ext cx="635" cy="2139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4" idx="2"/>
            <a:endCxn id="15" idx="0"/>
          </p:cNvCxnSpPr>
          <p:nvPr/>
        </p:nvCxnSpPr>
        <p:spPr>
          <a:xfrm flipH="1">
            <a:off x="8843010" y="3531870"/>
            <a:ext cx="1270" cy="3295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5" idx="2"/>
            <a:endCxn id="17" idx="0"/>
          </p:cNvCxnSpPr>
          <p:nvPr/>
        </p:nvCxnSpPr>
        <p:spPr>
          <a:xfrm>
            <a:off x="8843010" y="4217035"/>
            <a:ext cx="1270" cy="3295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7" idx="2"/>
          </p:cNvCxnSpPr>
          <p:nvPr/>
        </p:nvCxnSpPr>
        <p:spPr>
          <a:xfrm>
            <a:off x="8844280" y="5062220"/>
            <a:ext cx="0" cy="3155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8" idx="2"/>
            <a:endCxn id="19" idx="0"/>
          </p:cNvCxnSpPr>
          <p:nvPr/>
        </p:nvCxnSpPr>
        <p:spPr>
          <a:xfrm>
            <a:off x="4763135" y="813435"/>
            <a:ext cx="0" cy="37331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9" idx="2"/>
          </p:cNvCxnSpPr>
          <p:nvPr/>
        </p:nvCxnSpPr>
        <p:spPr>
          <a:xfrm flipH="1">
            <a:off x="4759325" y="5062220"/>
            <a:ext cx="3810" cy="2952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20" idx="2"/>
            <a:endCxn id="21" idx="0"/>
          </p:cNvCxnSpPr>
          <p:nvPr/>
        </p:nvCxnSpPr>
        <p:spPr>
          <a:xfrm>
            <a:off x="6908800" y="6129020"/>
            <a:ext cx="635" cy="1663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宽屏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</dc:creator>
  <cp:lastModifiedBy>Conner Lee</cp:lastModifiedBy>
  <cp:revision>5</cp:revision>
  <dcterms:created xsi:type="dcterms:W3CDTF">2023-08-09T12:44:00Z</dcterms:created>
  <dcterms:modified xsi:type="dcterms:W3CDTF">2026-05-15T10:25:30Z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09EE35F57FB84A87BECFE6FB000CE4A2_12</vt:lpwstr>
  </property>
</Properties>
</file>